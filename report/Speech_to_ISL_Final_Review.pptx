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375A"/>
                </a:solidFill>
                <a:latin typeface="Calibri"/>
              </a:rPr>
              <a:t>WER on the 15 dev speakers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 WER</c:v>
                </c:pt>
              </c:strCache>
            </c:strRef>
          </c:tx>
          <c:spPr>
            <a:solidFill>
              <a:srgbClr val="1E375A"/>
            </a:solidFill>
            <a:ln w="25400" cap="flat">
              <a:solidFill>
                <a:srgbClr val="1E375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3C3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375A"/>
              </a:solidFill>
              <a:ln w="9525" cap="flat">
                <a:solidFill>
                  <a:srgbClr val="1E37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200</c:v>
                  </c:pt>
                  <c:pt idx="2">
                    <c:v>400</c:v>
                  </c:pt>
                  <c:pt idx="3">
                    <c:v>600</c:v>
                  </c:pt>
                  <c:pt idx="4">
                    <c:v>800</c:v>
                  </c:pt>
                  <c:pt idx="5">
                    <c:v>1000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11.84</c:v>
                </c:pt>
                <c:pt idx="1">
                  <c:v>9.77</c:v>
                </c:pt>
                <c:pt idx="2">
                  <c:v>9.14</c:v>
                </c:pt>
                <c:pt idx="3">
                  <c:v>8.95</c:v>
                </c:pt>
                <c:pt idx="4">
                  <c:v>9.24</c:v>
                </c:pt>
                <c:pt idx="5">
                  <c:v>8.98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C3C3C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3C3C3C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3C3C3C"/>
                    </a:solidFill>
                    <a:latin typeface="Calibri"/>
                  </a:rPr>
                  <a:t>training step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.5"/>
          <c:min val="8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375A"/>
                </a:solidFill>
                <a:latin typeface="Calibri"/>
              </a:rPr>
              <a:t>WER per test speaker (%), sorted by stock WER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base.en</c:v>
                </c:pt>
              </c:strCache>
            </c:strRef>
          </c:tx>
          <c:spPr>
            <a:solidFill>
              <a:srgbClr val="9AA9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5.9</c:v>
                </c:pt>
                <c:pt idx="1">
                  <c:v>7.8</c:v>
                </c:pt>
                <c:pt idx="2">
                  <c:v>8.1</c:v>
                </c:pt>
                <c:pt idx="3">
                  <c:v>10.3</c:v>
                </c:pt>
                <c:pt idx="4">
                  <c:v>10.7</c:v>
                </c:pt>
                <c:pt idx="5">
                  <c:v>11.9</c:v>
                </c:pt>
                <c:pt idx="6">
                  <c:v>13.3</c:v>
                </c:pt>
                <c:pt idx="7">
                  <c:v>14.5</c:v>
                </c:pt>
                <c:pt idx="8">
                  <c:v>14.6</c:v>
                </c:pt>
                <c:pt idx="9">
                  <c:v>14.9</c:v>
                </c:pt>
                <c:pt idx="10">
                  <c:v>16</c:v>
                </c:pt>
                <c:pt idx="11">
                  <c:v>18.2</c:v>
                </c:pt>
                <c:pt idx="12">
                  <c:v>19.6</c:v>
                </c:pt>
                <c:pt idx="13">
                  <c:v>21.7</c:v>
                </c:pt>
                <c:pt idx="14">
                  <c:v>37.4</c:v>
                </c:pt>
                <c:pt idx="15">
                  <c:v>53.8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1E37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6.3</c:v>
                </c:pt>
                <c:pt idx="1">
                  <c:v>7.5</c:v>
                </c:pt>
                <c:pt idx="2">
                  <c:v>5.9</c:v>
                </c:pt>
                <c:pt idx="3">
                  <c:v>10</c:v>
                </c:pt>
                <c:pt idx="4">
                  <c:v>9.3</c:v>
                </c:pt>
                <c:pt idx="5">
                  <c:v>8.3</c:v>
                </c:pt>
                <c:pt idx="6">
                  <c:v>10.9</c:v>
                </c:pt>
                <c:pt idx="7">
                  <c:v>10.6</c:v>
                </c:pt>
                <c:pt idx="8">
                  <c:v>11.1</c:v>
                </c:pt>
                <c:pt idx="9">
                  <c:v>15.4</c:v>
                </c:pt>
                <c:pt idx="10">
                  <c:v>13.4</c:v>
                </c:pt>
                <c:pt idx="11">
                  <c:v>15.2</c:v>
                </c:pt>
                <c:pt idx="12">
                  <c:v>10.6</c:v>
                </c:pt>
                <c:pt idx="13">
                  <c:v>19.3</c:v>
                </c:pt>
                <c:pt idx="14">
                  <c:v>28.2</c:v>
                </c:pt>
                <c:pt idx="15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375A"/>
                </a:solidFill>
                <a:latin typeface="Calibri"/>
              </a:rPr>
              <a:t>WER (%) with white noise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</c:v>
                </c:pt>
              </c:strCache>
            </c:strRef>
          </c:tx>
          <c:spPr>
            <a:solidFill>
              <a:srgbClr val="9AA9BF"/>
            </a:solidFill>
            <a:ln w="25400" cap="flat">
              <a:solidFill>
                <a:srgbClr val="9AA9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9BF"/>
              </a:solidFill>
              <a:ln w="9525" cap="flat">
                <a:solidFill>
                  <a:srgbClr val="9AA9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13.1</c:v>
                </c:pt>
                <c:pt idx="1">
                  <c:v>16.6</c:v>
                </c:pt>
                <c:pt idx="2">
                  <c:v>28.3</c:v>
                </c:pt>
                <c:pt idx="3">
                  <c:v>44.9</c:v>
                </c:pt>
                <c:pt idx="4">
                  <c:v>67.7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Stock + SS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13.6</c:v>
                </c:pt>
                <c:pt idx="1">
                  <c:v>17.2</c:v>
                </c:pt>
                <c:pt idx="2">
                  <c:v>28.8</c:v>
                </c:pt>
                <c:pt idx="3">
                  <c:v>43.9</c:v>
                </c:pt>
                <c:pt idx="4">
                  <c:v>73.6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1E375A"/>
            </a:solidFill>
            <a:ln w="25400" cap="flat">
              <a:solidFill>
                <a:srgbClr val="1E37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375A"/>
              </a:solidFill>
              <a:ln w="9525" cap="flat">
                <a:solidFill>
                  <a:srgbClr val="1E37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13.4</c:v>
                </c:pt>
                <c:pt idx="2">
                  <c:v>25.4</c:v>
                </c:pt>
                <c:pt idx="3">
                  <c:v>34.5</c:v>
                </c:pt>
                <c:pt idx="4">
                  <c:v>55.6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Fine-tuned + SS</c:v>
                </c:pt>
              </c:strCache>
            </c:strRef>
          </c:tx>
          <c:spPr>
            <a:solidFill>
              <a:srgbClr val="B03A2E"/>
            </a:solidFill>
            <a:ln w="2540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11.9</c:v>
                </c:pt>
                <c:pt idx="1">
                  <c:v>14</c:v>
                </c:pt>
                <c:pt idx="2">
                  <c:v>24.5</c:v>
                </c:pt>
                <c:pt idx="3">
                  <c:v>36.5</c:v>
                </c:pt>
                <c:pt idx="4">
                  <c:v>59.8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375A"/>
                </a:solidFill>
                <a:latin typeface="Calibri"/>
              </a:rPr>
              <a:t>WER (%) with babble noise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</c:v>
                </c:pt>
              </c:strCache>
            </c:strRef>
          </c:tx>
          <c:spPr>
            <a:solidFill>
              <a:srgbClr val="9AA9BF"/>
            </a:solidFill>
            <a:ln w="25400" cap="flat">
              <a:solidFill>
                <a:srgbClr val="9AA9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9BF"/>
              </a:solidFill>
              <a:ln w="9525" cap="flat">
                <a:solidFill>
                  <a:srgbClr val="9AA9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13.1</c:v>
                </c:pt>
                <c:pt idx="1">
                  <c:v>14.4</c:v>
                </c:pt>
                <c:pt idx="2">
                  <c:v>22.2</c:v>
                </c:pt>
                <c:pt idx="3">
                  <c:v>41.5</c:v>
                </c:pt>
                <c:pt idx="4">
                  <c:v>88.2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Stock + SS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13.6</c:v>
                </c:pt>
                <c:pt idx="1">
                  <c:v>14.8</c:v>
                </c:pt>
                <c:pt idx="2">
                  <c:v>25.8</c:v>
                </c:pt>
                <c:pt idx="3">
                  <c:v>47.4</c:v>
                </c:pt>
                <c:pt idx="4">
                  <c:v>95.1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1E375A"/>
            </a:solidFill>
            <a:ln w="25400" cap="flat">
              <a:solidFill>
                <a:srgbClr val="1E37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375A"/>
              </a:solidFill>
              <a:ln w="9525" cap="flat">
                <a:solidFill>
                  <a:srgbClr val="1E37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12.8</c:v>
                </c:pt>
                <c:pt idx="2">
                  <c:v>21.1</c:v>
                </c:pt>
                <c:pt idx="3">
                  <c:v>36.8</c:v>
                </c:pt>
                <c:pt idx="4">
                  <c:v>92.2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Fine-tuned + SS</c:v>
                </c:pt>
              </c:strCache>
            </c:strRef>
          </c:tx>
          <c:spPr>
            <a:solidFill>
              <a:srgbClr val="B03A2E"/>
            </a:solidFill>
            <a:ln w="2540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20 dB</c:v>
                  </c:pt>
                  <c:pt idx="2">
                    <c:v>10 dB</c:v>
                  </c:pt>
                  <c:pt idx="3">
                    <c:v>5 dB</c:v>
                  </c:pt>
                  <c:pt idx="4">
                    <c:v>0 dB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11.9</c:v>
                </c:pt>
                <c:pt idx="1">
                  <c:v>13.9</c:v>
                </c:pt>
                <c:pt idx="2">
                  <c:v>21.3</c:v>
                </c:pt>
                <c:pt idx="3">
                  <c:v>39.8</c:v>
                </c:pt>
                <c:pt idx="4">
                  <c:v>88.5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375A"/>
                </a:solidFill>
                <a:latin typeface="Calibri"/>
              </a:rPr>
              <a:t>Median final pitch movement (semitones)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final movement</c:v>
                </c:pt>
              </c:strCache>
            </c:strRef>
          </c:tx>
          <c:spPr>
            <a:solidFill>
              <a:srgbClr val="1E37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3C3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yes/no question</c:v>
                  </c:pt>
                  <c:pt idx="1">
                    <c:v>wh-question</c:v>
                  </c:pt>
                  <c:pt idx="2">
                    <c:v>statement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-0.3</c:v>
                </c:pt>
                <c:pt idx="1">
                  <c:v>-2.6</c:v>
                </c:pt>
                <c:pt idx="2">
                  <c:v>-2.17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3C3C3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-3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7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375A"/>
                </a:solidFill>
                <a:latin typeface="Calibri"/>
              </a:rPr>
              <a:t>Words that get a dictionary sign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sentences</c:v>
                </c:pt>
              </c:strCache>
            </c:strRef>
          </c:tx>
          <c:spPr>
            <a:solidFill>
              <a:srgbClr val="9AA9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3C3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words</c:v>
                  </c:pt>
                  <c:pt idx="1">
                    <c:v>Words ISL signs</c:v>
                  </c:pt>
                  <c:pt idx="2">
                    <c:v>+ Google Drive</c:v>
                  </c:pt>
                  <c:pt idx="3">
                    <c:v>+ Synonyms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86.5</c:v>
                </c:pt>
                <c:pt idx="2">
                  <c:v>86.5</c:v>
                </c:pt>
                <c:pt idx="3">
                  <c:v>86.5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Held-out sentences</c:v>
                </c:pt>
              </c:strCache>
            </c:strRef>
          </c:tx>
          <c:spPr>
            <a:solidFill>
              <a:srgbClr val="1E375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3C3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words</c:v>
                  </c:pt>
                  <c:pt idx="1">
                    <c:v>Words ISL signs</c:v>
                  </c:pt>
                  <c:pt idx="2">
                    <c:v>+ Google Drive</c:v>
                  </c:pt>
                  <c:pt idx="3">
                    <c:v>+ Synonyms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53.9</c:v>
                </c:pt>
                <c:pt idx="1">
                  <c:v>66.3</c:v>
                </c:pt>
                <c:pt idx="2">
                  <c:v>67.1</c:v>
                </c:pt>
                <c:pt idx="3">
                  <c:v>72.3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C3C3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3C3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873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 – Speech to Indian Sign Language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873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 – Speech to Indian Sign Language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353/sls.2003.0005" TargetMode="External"/><Relationship Id="rId2" Type="http://schemas.openxmlformats.org/officeDocument/2006/relationships/hyperlink" Target="https://doi.org/10.1007/978-3-030-58621-8_40" TargetMode="External"/><Relationship Id="rId3" Type="http://schemas.openxmlformats.org/officeDocument/2006/relationships/hyperlink" Target="https://doi.org/10.21437/Interspeech.2021-1094" TargetMode="External"/><Relationship Id="rId4" Type="http://schemas.openxmlformats.org/officeDocument/2006/relationships/hyperlink" Target="https://doi.org/10.1145/2049536.2049557" TargetMode="External"/><Relationship Id="rId5" Type="http://schemas.openxmlformats.org/officeDocument/2006/relationships/hyperlink" Target="https://doi.org/10.3389/fpsyg.2022.730917" TargetMode="External"/><Relationship Id="rId6" Type="http://schemas.openxmlformats.org/officeDocument/2006/relationships/hyperlink" Target="https://doi.org/10.48550/arXiv.2212.04356" TargetMode="External"/><Relationship Id="rId7" Type="http://schemas.openxmlformats.org/officeDocument/2006/relationships/hyperlink" Target="https://doi.org/10.21437/Interspeech.2023-2588" TargetMode="External"/><Relationship Id="rId8" Type="http://schemas.openxmlformats.org/officeDocument/2006/relationships/hyperlink" Target="https://doi.org/10.48550/arXiv.1706.03762" TargetMode="External"/><Relationship Id="rId9" Type="http://schemas.openxmlformats.org/officeDocument/2006/relationships/hyperlink" Target="https://doi.org/10.1109/TASSP.1980.1163420" TargetMode="External"/><Relationship Id="rId10" Type="http://schemas.openxmlformats.org/officeDocument/2006/relationships/hyperlink" Target="https://doi.org/10.1109/TASSP.1977.1162905" TargetMode="External"/><Relationship Id="rId11" Type="http://schemas.openxmlformats.org/officeDocument/2006/relationships/hyperlink" Target="https://doi.org/10.1109/TASSP.1979.1163209" TargetMode="External"/><Relationship Id="rId12" Type="http://schemas.openxmlformats.org/officeDocument/2006/relationships/hyperlink" Target="https://doi.org/10.1109/ICASSP.1979.1170788" TargetMode="External"/><Relationship Id="rId13" Type="http://schemas.openxmlformats.org/officeDocument/2006/relationships/hyperlink" Target="https://doi.org/10.1109/CVPR.2018.00812" TargetMode="External"/><Relationship Id="rId14" Type="http://schemas.openxmlformats.org/officeDocument/2006/relationships/hyperlink" Target="https://doi.org/10.1109/CVPR42600.2020.01004" TargetMode="External"/><Relationship Id="rId15" Type="http://schemas.openxmlformats.org/officeDocument/2006/relationships/hyperlink" Target="https://doi.org/10.1145/3394171.3413528" TargetMode="External"/><Relationship Id="rId16" Type="http://schemas.openxmlformats.org/officeDocument/2006/relationships/hyperlink" Target="https://doi.org/10.18653/v1/2023.findings-acl.665" TargetMode="External"/><Relationship Id="rId17" Type="http://schemas.openxmlformats.org/officeDocument/2006/relationships/hyperlink" Target="https://doi.org/10.18653/v1/2024.findings-acl.643" TargetMode="External"/><Relationship Id="rId18" Type="http://schemas.openxmlformats.org/officeDocument/2006/relationships/hyperlink" Target="https://doi.org/10.18653/v1/D19-1410" TargetMode="External"/><Relationship Id="rId19" Type="http://schemas.openxmlformats.org/officeDocument/2006/relationships/hyperlink" Target="https://doi.org/10.1145/219717.219748" TargetMode="External"/><Relationship Id="rId20" Type="http://schemas.openxmlformats.org/officeDocument/2006/relationships/hyperlink" Target="https://doi.org/10.1007/978-1-4899-4541-9" TargetMode="External"/><Relationship Id="rId21" Type="http://schemas.openxmlformats.org/officeDocument/2006/relationships/slideLayout" Target="../slideLayouts/slideLayout3.xml"/><Relationship Id="rId2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Indian Sign Language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Accent-Adapted Speech Recognition and ISL Video Retrieval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011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Mothishwaran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41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AIE-A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Artificial 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Coimbatore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– October 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and Motivation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79576"/>
            <a:ext cx="8229600" cy="6035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hearing people do not know Indian Sign Language, and trained interpreters are few. A Deaf person who signs can easily miss a lecture, an announcement or a conversation at a counter.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spoken English as input.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it with a speech model tuned to Indian accents.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each word in the ISLRTC sign dictionary.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real videos of Deaf signers, one sign after another.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23317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hospital?”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2788920"/>
            <a:ext cx="0" cy="22860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0640" y="30175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 the hospital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3383280"/>
            <a:ext cx="0" cy="22860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20640" y="36118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·  HOSPITAL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ISL videos (“is” and “the” are not signed in ISL)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 and Scope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recognition errors for Indian-accented English, and prove it on speakers the model never heard.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classical speech processing (energy, zero-crossing rate, pitch, noise reduction) and measure whether it helps.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as many words as possible with real ISL videos, and never drop a word silently.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real time on a laptop.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22776"/>
            <a:ext cx="4023360" cy="7406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Speech-driven </a:t>
            </a:r>
            <a:pPr indent="0" marL="0">
              <a:buNone/>
            </a:pPr>
            <a:r>
              <a:rPr lang="en-US" sz="14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video retrieval</a:t>
            </a:r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full ISL translation.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mid review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16916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vocabulary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4,068 local + 2,740 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Whisper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on Indian 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ms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0.15–0.25 s (GPU)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plots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browser + 2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spelled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Drive, then fingerspell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utterances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unseen speakers + 40 sentences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Literature Survey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3246120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our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Radford et al. [6]; Vaswani et al. [8]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Whisper: Transformer ASR trained on 680k h of web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speech recogniser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Javed et al. (Svarah) [7]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ASR loses accuracy on Indian accents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and test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Davis &amp; Mermelstein [9]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Mel-scale spectral features for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Log-mel input to Whisper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Rabiner [10]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Autocorrelation pitch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live pitch 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Boll [11]; Berouti et al. [12]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subtraction, over-subtraction and floor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optional noise reducer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Camgöz et al. [13], [14]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video to text with neural translation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direction to 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Saunders et al. [2]; Kapoor et al. 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sign poses from text or speech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parallel data; avatar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Sridhar et al. [15]; Joshi et al. [16], [17]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INCLUDE, ISLTranslate, iSign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one-sign-per-clip lexicon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Kipp et al. [4]; Quandt et al. [5]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Deaf viewers rate signing avatars critically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use real signer videos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Miller [19]; Reimers &amp; Gurevych [18]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WordNet; Sentence-BERT 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 search (compared)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Zeshan [1]; Efron &amp; Tibshirani [20]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 word order; the 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 order option; significance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Research Gaps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60604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– Recognition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79576"/>
            <a:ext cx="2606040" cy="17007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Speech-to-sign work rarely adapts the recogniser to Indian speakers, even though its mistakes go straight into the signs.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68980" y="868680"/>
            <a:ext cx="260604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– Coverage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68980" y="1179576"/>
            <a:ext cx="2606040" cy="17007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generation needs paired data that ISL lacks. Retrieval systems rarely report how much of a sentence they can actually sign.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80760" y="868680"/>
            <a:ext cx="260604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 – Classical tools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80760" y="1179576"/>
            <a:ext cx="2606040" cy="17007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and pitch cues are assumed to help, but are seldom measured with a modern neural recogniser.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11296"/>
            <a:ext cx="8229600" cy="64922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recogniser on Indian English, retrieve real ISL videos from the full ISLRTC dictionary, and measure every step, including the ideas that did not 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Datasets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ISLRTC sign dictionary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 in the online archive (~250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 stored on our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Phrases in the local manifest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phrases fetched on 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Skipped: explanations over 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 clips for fingerspelling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Svarah speech corpus (AI4Bharat)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6,656 utterances · 9.6 h · 117 speakers · CC BY 4.0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Utterances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52044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decisions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" y="3831336"/>
            <a:ext cx="8229600" cy="87782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videos are never redistributed. The repository keeps only the manifest, which points to the files.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Svarah file names are not speaker IDs, so we split by each speaker's demographic profile. No voice appears in two splits.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Overall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16 kHz mono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0280" y="130302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60604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analysis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ZCR, pitch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30302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5488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 (optional)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30302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903720" y="960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base.en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Svarah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ISLRTC clips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order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or ISL rules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H="1">
            <a:off x="2240280" y="249174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5488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lookup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Drive → spell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4389120" y="249174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903720" y="2148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omitted words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6537960" y="2491740"/>
            <a:ext cx="365760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95260" y="1645920"/>
            <a:ext cx="0" cy="50292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Analyse → Recognise → Process → Look up → Play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faster-whisper (CTranslate2) · HTML + JavaScript (Web Audio) · Google Drive API · WordNet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Speech Processing Techniques We Use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3840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our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Resampling to 16 kHz mono, 16-bit PCM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(Web Audio)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fixed format for every microphone; keeps speech up to 8 kHz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Framing + Hann window + FFT (STFT)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and Whisper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spectrogram; first step of the log-mel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Log-mel spectrogram, 80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front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× 3000 feature matrix the recogniser 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Short-time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speech vs silence while recording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Zero-crossing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noisy sounds like /s/ from vowels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Autocorrelation pitch (F0)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and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pitch track; final rise used in the question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subtraction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(optional)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reduction before recognition; tested in 18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ASR: Whisper, fine-tuned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(GPU)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to text, 11.3% WER on unseen speakers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normalisation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the transcript into a clean word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WER, SNR, semitones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each step is 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Audio Capture and Feature Extraction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in the browser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4343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MediaRecorder records the microphone.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recording is decoded and resampled to 16 kHz mono (OfflineAudioContext).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are written as a 16-bit PCM WAV file and uploaded.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decodes it to a float32 array for Whisper.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44952"/>
            <a:ext cx="4343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</a:t>
            </a:r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ms frames, 10 ms hop, Hann window.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Log-mel: </a:t>
            </a:r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→ 80 mel filters → log = Whisper input.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ZCR: </a:t>
            </a:r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vs silence, voiced vs noisy.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update while the user speaks.</a:t>
            </a:r>
            <a:endParaRPr lang="en-US" sz="1300" dirty="0"/>
          </a:p>
        </p:txBody>
      </p:sp>
      <p:pic>
        <p:nvPicPr>
          <p:cNvPr id="7" name="Image 0" descr="Waveform, spectrogram and pitch track of a sample sent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822960"/>
            <a:ext cx="3657600" cy="38253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Pitch Tracking and Noise Reduction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(F0) by autocorrelation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79576"/>
            <a:ext cx="4023360" cy="30723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autocorrelation of each frame: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3C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r(τ) = Σ x[n]·x[n+τ] / √(Σ x²[n] · Σ x²[n+τ])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70–400 Hz; F0 = fs / τ at the chosen peak.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Voiced when the peak is at least 0.5 and energy is above silence.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Octave guard: take the shortest peak within 10% of the best. Without it, a 330 Hz voice was read as 82.5 Hz.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rise in semitones: Δ = 12 log₂(F0 end / F0 body), using the last 300 ms.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63440" y="86868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3440" y="1179576"/>
            <a:ext cx="4023360" cy="307238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estimated noise power from every frame: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3C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|Ŝ|² = max( |Y|² − α·N̂ ,  β·|Y|² 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2 (over-subtraction), β = 0.02 (spectral floor), as in Boll and Berouti.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N̂ comes from the quietest 10% of frames, so no silent start is needed.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ms frames, 8 ms hop; the noisy phase is kept and the signal is rebuilt by overlap-add.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with α = 0 the output matches the input (147 dB SNR).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Fine-Tuning Whisper on Indian Accents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base.en (74 M parameters)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Svarah train split, 84 speaker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/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1,002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lr 1×10⁻⁵, 100 warm-up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(fp16)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/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4050 laptop GPU, 69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600 (lowest dev WER)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Exported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CTranslate2, 8-bit, 76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846320" y="822960"/>
          <a:ext cx="38404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846320" y="3474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WER fell from 11.84% to 8.95% by step 600, then stopped improving.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save the optimiser and random state, so a teammate can resume on another machine.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Results: Recognition on Unseen Speakers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1EBF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 → 11.3%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WER, 620 utterances (about 14% fewer errors)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1EBF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16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test speakers improved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1EBF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/ 2,000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resamples favour the fine-tuned model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46120" y="822960"/>
          <a:ext cx="5440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246120" y="352044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 on the hardest voices: 53.8 → 41.0, 37.4 → 28.2, 19.6 → 10.6.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speakers got slightly worse, by 0.4 and 0.5 points.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both models and keeping the more confident output gave 11.25%, not worth twice the compute.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Text Cleaning and Normalisation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applied to the Whisper transcript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transcript into words at spaces.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 from both ends of each word.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Lower-case, and turn curly apostrophes (’) into straight ones (').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letters, digits and apostrophes, so don't stays one word.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where sentences start (after . ? ! : ;) for names and questions.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original form too: capitals mark names, digits mark numbers.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402336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on both sides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68496"/>
            <a:ext cx="4023360" cy="7406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dictionary phrase is cleaned by the same function when the manifest is built, so speech and dictionary never disagree on spelling.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my friend Ravi! Don’t worry, the doctors come at 7:30.”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output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1783080"/>
            <a:ext cx="0" cy="22860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5740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sentence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(capital → name)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Don’t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7:30.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7:30 →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75488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my friend ravi don't worry the doctors come at 730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From Words to Signs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dictionary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389888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1496873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9561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36546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69234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576218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08906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615891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Omitted word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48579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655564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8252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695237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synonym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27925" y="1097280"/>
            <a:ext cx="106985" cy="0"/>
          </a:xfrm>
          <a:prstGeom prst="line">
            <a:avLst/>
          </a:prstGeom>
          <a:noFill/>
          <a:ln w="15875">
            <a:solidFill>
              <a:srgbClr val="1E375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34910" y="86868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Fingerspell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dictionary phrase first (“thank you” = one sign); words left over go through the chain in this order.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651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that fired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Hello, my, friend, worry, 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dictionary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HELLO, MY, FRIEND, WORRY, 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letter mid-sentence →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R-A-V-I (fingerspelled)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Don’t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 this laptop → Google Drive, then 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omitted word (ISL does not sign 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 anywhere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A-T (fingerspelled)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THIRTY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388620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" y="4197096"/>
            <a:ext cx="8229600" cy="5120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words → 8 signed, 2 fingerspelled, 1 omitted, none dropped. (45 → FOUR FIVE: forty has no sign.)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Synonyms: Embeddings vs WordNet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30 true synonym pairs, 30 related but different pairs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51560"/>
                <a:gridCol w="1051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pairs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pairs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threshold 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threshold 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threshold 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2344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scored Monday–Tuesday and husband–wife at 0.87, higher than many real synonyms.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sign for a different word is worse than showing nothing.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proposals were checked by hand: 121 of 171 kept.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984 word forms are also mapped, e.g. children → CHILD.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70332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014216"/>
            <a:ext cx="8229600" cy="46634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with manual review is used. Embedding similarity was tested and rejected.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Start to Finish: One Sentence Through the System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063240"/>
                <a:gridCol w="283464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records, resamples to 16 kHz mono; live waveform, spectrogram, pitch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speaking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spectral subtraction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cleaner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 ms (off by 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Recognise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Whisper, greedy decoding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 is the hospital? I am 25 years old.”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0.15–0.25 s 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Split, strip punctuation, lower-case, mark sentences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the hospital i am 25 years 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Question?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“where” + verb, and a “?”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1 is a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Look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phrase first, then the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HOSPITAL TWENTY FIVE YEAR 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 order (ISL option: HOSPITAL WHERE 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list of 6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video players alternate, so there is no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real ISL videos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length (median 7.9 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79476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4105656"/>
            <a:ext cx="8229600" cy="6035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is almost all of the waiting: 0.15–0.25 s on the GPU against 1.6 s (plugged in) or 3.1 s (battery) on the CPU. A sign fetched from Google Drive adds about 5.6 s the first time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Results: Noise Robustness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82296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test utterances mixed with white noise and four-speaker babble at 20, 10, 5 and 0 dB. SS = spectral subtraction.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model was more robust at every white-noise level (5 dB: 44.9% → 34.5%), though it never heard added noise in training.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subtraction raised SNR by 3.7–7.1 dB on white noise and under 1 dB on babble, but made WER worse in 15 of 18 conditions. It is off by default.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Results: Pitch as a Question Cue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 questions and 387 statements from Svarah; threshold set on training speakers only.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unseen dev + test speakers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Statements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alone (yes/no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order + “?”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/ 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order, “?”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/ 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6634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alone reaches only 66.5% balanced accuracy.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370332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" y="4014216"/>
            <a:ext cx="8229600" cy="64922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read Indian English, yes/no questions did not rise at the end; they only fell less than statements. So word order decides, and pitch is shown as supporting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Results: Sign Coverage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914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sentences were written after all rules were fixed, so these are the honest numbers.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the words ISL signs had a local sign; Drive raised it to 67% and synonyms to 72%.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set reached 87%. Tuning on your own test set inflates results.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end to end with a synthetic voice: WER 2.0% and 2.4%, and every clip was served.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End-to-End Demonstration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speech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hospital? I am 25 years old.”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output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 the hospital i am 25 years old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plan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→ WHERE;  hospital → HOSPITAL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is, the, am → omitted (not signed in ISL)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→ TWENTY FIVE;  years → YEAR (word form)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→ OLD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→ no dictionary sign; not spelled, since a lone letter I would mislead</a:t>
            </a:r>
            <a:endParaRPr lang="en-US" sz="1300" dirty="0"/>
          </a:p>
        </p:txBody>
      </p:sp>
      <p:pic>
        <p:nvPicPr>
          <p:cNvPr id="9" name="Image 0" descr="Frames from the six sign clips played for the sent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68680"/>
            <a:ext cx="4114800" cy="21114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0" y="3200400"/>
            <a:ext cx="41148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ISL order switched 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0" y="3511296"/>
            <a:ext cx="4114800" cy="6035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WHERE  TWENTY FIVE YEAR OLD  (question word moved to the end)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What We Learned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– Short phrases are hard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6128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“cricket match” alone was misheard by all three models: “trickier to match”, “click here to match”, “couldn't get the match”.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added the correction box.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– Averages hide word errors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16128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“I play cricket and hockey” the fine-tuned model wrote “chicken”; the stock model and small.en were right.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average WER does not mean every word improves.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– Check the data, not only the code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3580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Svarah file names looked like speaker IDs but were not; splitting on them would have leaked test voices.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clips were stamped 0.03 s instead of 1.5 s, so fingerspelling was unreadable until re-timed.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– Meaning needs a human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03580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proposed million → billion and chess → grass.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removed 50 of 171 synonym proposals.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 Limitations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follow English order unless the ISL-order option is on, and that option knows only three rules.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expressions carry ISL grammar (raised eyebrows for yes/no questions); joined dictionary clips cannot show them.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were checked for English meaning, not by an ISL signer.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was tested on Svarah and synthetic speech; tests with our own voices are still few.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common words, such as the pronoun I, have no dictionary sign.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1,256 long explanation videos are skipped until an ISL user marks the sign inside them.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limitation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22776"/>
            <a:ext cx="8229600" cy="74066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Deaf user has judged the output yet. Coverage tells us what the dictionary </a:t>
            </a:r>
            <a:pPr indent="0" marL="0">
              <a:buNone/>
            </a:pP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express</a:t>
            </a:r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what a viewer </a:t>
            </a:r>
            <a:pPr indent="0" marL="0">
              <a:buNone/>
            </a:pP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 Conclusion and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10896"/>
          </a:xfrm>
          <a:prstGeom prst="rect">
            <a:avLst/>
          </a:prstGeom>
          <a:solidFill>
            <a:srgbClr val="1E375A"/>
          </a:solidFill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achieved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79576"/>
            <a:ext cx="8229600" cy="603504"/>
          </a:xfrm>
          <a:prstGeom prst="rect">
            <a:avLst/>
          </a:prstGeom>
          <a:solidFill>
            <a:srgbClr val="E1EBF5"/>
          </a:solidFill>
          <a:ln/>
        </p:spPr>
        <p:txBody>
          <a:bodyPr wrap="square" lIns="101600" tIns="63500" rIns="101600" bIns="635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that turns spoken Indian English into a sequence of real ISL dictionary videos, with recognition in under a quarter of a second on a laptop GPU.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13.2% → 11.3% on unseen speakers, and more robust to noise.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ISL-signed words covered in unseen sentences (72% with synonyms).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honest negative results: spectral subtraction and pitch-only question detection.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2860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Deaf ISL users.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more, and noisier, Indian speech.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ISL word order from parallel data such as ISLTranslate.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sign inside long explanation videos with an ISL expert.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Fine-tuned Whisper → Text → Sign lookup → Real ISL video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U. Zeshan, “Indo-Pakistani Sign Language grammar: A typological outline,” Sign Lang. Stud., 2003.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doi:10.1353/sls.2003.0005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B. Saunders, N. C. Camgöz, R. Bowden, “Progressive transformers for end-to-end sign language production,” ECCV, 2020.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doi:10.1007/978-3-030-58621-8_40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Kapoor et al., “Towards automatic speech to sign language generation,” Interspeech, 2021.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doi:10.21437/Interspeech.2021-1094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Kipp et al., “Assessing the deaf user perspective on sign language avatars,” ASSETS, 2011.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doi:10.1145/2049536.2049557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L. C. Quandt et al., “Attitudes toward signing avatars vary depending on hearing status, age of signed language acquisition, and avatar type,” Front. Psychol., 2022.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doi:10.3389/fpsyg.2022.730917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Radford et al., “Robust speech recognition via large-scale weak supervision,” arXiv:2212.04356, 2022.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doi:10.48550/arXiv.2212.04356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Javed et al., “Svarah: Evaluating English ASR systems on Indian accents,” Interspeech, 2023.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doi:10.21437/Interspeech.2023-2588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A. Vaswani et al., “Attention is all you need,” arXiv:1706.03762, 2017.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doi:10.48550/arXiv.1706.03762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S. Davis, P. Mermelstein, “Comparison of parametric representations for monosyllabic word recognition,” IEEE Trans. ASSP, 1980.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doi:10.1109/TASSP.1980.1163420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L. Rabiner, “On the use of autocorrelation analysis for pitch detection,” IEEE Trans. ASSP, 1977.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doi:10.1109/TASSP.1977.1162905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7772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S. Boll, “Suppression of acoustic noise in speech using spectral subtraction,” IEEE Trans. ASSP, 1979.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doi:10.1109/TASSP.1979.1163209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M. Berouti, R. Schwartz, J. Makhoul, “Enhancement of speech corrupted by acoustic noise,” ICASSP, 1979.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doi:10.1109/ICASSP.1979.1170788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N. C. Camgöz et al., “Neural sign language translation,” CVPR, 2018.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doi:10.1109/CVPR.2018.00812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N. C. Camgöz et al., “Sign language transformers: Joint end-to-end sign language recognition and translation,” CVPR, 2020.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doi:10.1109/CVPR42600.2020.01004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A. Sridhar et al., “INCLUDE: A large scale dataset for Indian Sign Language recognition,” ACM Multimedia, 2020.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doi:10.1145/3394171.3413528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A. Joshi, S. Agrawal, A. Modi, “ISLTranslate: Dataset for translating Indian Sign Language,” Findings of ACL, 2023.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doi:10.18653/v1/2023.findings-acl.665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A. Joshi et al., “iSign: A benchmark for Indian Sign Language processing,” Findings of ACL, 2024.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doi:10.18653/v1/2024.findings-acl.643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N. Reimers, I. Gurevych, “Sentence-BERT: Sentence embeddings using Siamese BERT-networks,” EMNLP-IJCNLP, 2019.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doi:10.18653/v1/D19-1410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G. A. Miller, “WordNet: A lexical database for English,” Commun. ACM, 1995.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doi:10.1145/219717.219748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B. Efron, R. J. Tibshirani, An Introduction to the Bootstrap. Springer, 1993. </a:t>
            </a:r>
            <a:pPr indent="0" marL="0">
              <a:buNone/>
            </a:pPr>
            <a:r>
              <a:rPr lang="en-US" sz="1000" u="sng" dirty="0">
                <a:solidFill>
                  <a:srgbClr val="1E3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doi:10.1007/978-1-4899-4541-9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606040" y="27889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1EBF5"/>
          </a:solidFill>
          <a:ln w="9525">
            <a:solidFill>
              <a:srgbClr val="1E3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+ Speech Processing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Retrieval + Real ISL Video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737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C3C3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to Indian Sign Language - Final Review</dc:title>
  <dc:subject>PptxGenJS Presentation</dc:subject>
  <dc:creator>Mothishwaran</dc:creator>
  <cp:lastModifiedBy>Mothishwaran</cp:lastModifiedBy>
  <cp:revision>1</cp:revision>
  <dcterms:created xsi:type="dcterms:W3CDTF">2026-10-12T10:13:20Z</dcterms:created>
  <dcterms:modified xsi:type="dcterms:W3CDTF">2026-10-12T10:13:20Z</dcterms:modified>
</cp:coreProperties>
</file>